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10" r:id="rId3"/>
    <p:sldMasterId id="2147483713" r:id="rId4"/>
    <p:sldMasterId id="2147483715" r:id="rId5"/>
    <p:sldMasterId id="2147483728" r:id="rId6"/>
    <p:sldMasterId id="2147483730" r:id="rId7"/>
  </p:sldMasterIdLst>
  <p:notesMasterIdLst>
    <p:notesMasterId r:id="rId10"/>
  </p:notesMasterIdLst>
  <p:sldIdLst>
    <p:sldId id="256" r:id="rId8"/>
    <p:sldId id="257" r:id="rId9"/>
    <p:sldId id="258" r:id="rId11"/>
    <p:sldId id="265" r:id="rId12"/>
    <p:sldId id="259" r:id="rId13"/>
    <p:sldId id="267" r:id="rId14"/>
    <p:sldId id="273" r:id="rId15"/>
    <p:sldId id="279" r:id="rId16"/>
    <p:sldId id="276" r:id="rId17"/>
    <p:sldId id="270" r:id="rId18"/>
    <p:sldId id="280" r:id="rId19"/>
    <p:sldId id="278" r:id="rId20"/>
    <p:sldId id="277" r:id="rId21"/>
    <p:sldId id="271" r:id="rId22"/>
    <p:sldId id="264" r:id="rId23"/>
    <p:sldId id="263" r:id="rId24"/>
  </p:sldIdLst>
  <p:sldSz cx="9144000" cy="5143500" type="screen16x9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.png"/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3.png"/><Relationship Id="rId4" Type="http://schemas.openxmlformats.org/officeDocument/2006/relationships/image" Target="../media/image11.png"/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3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/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/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/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Blank slide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 only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Blank slide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/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/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/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5" Type="http://schemas.openxmlformats.org/officeDocument/2006/relationships/theme" Target="../theme/theme4.xml"/><Relationship Id="rId14" Type="http://schemas.openxmlformats.org/officeDocument/2006/relationships/image" Target="../media/image37.png"/><Relationship Id="rId13" Type="http://schemas.openxmlformats.org/officeDocument/2006/relationships/hyperlink" Target="http://www.presentationgo.com/" TargetMode="External"/><Relationship Id="rId12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/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/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3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/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/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  <a:endPara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  <a:endPara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20" name="Picture 19"/>
            <p:cNvPicPr>
              <a:picLocks noChangeAspect="1"/>
            </p:cNvPicPr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.xml"/><Relationship Id="rId1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84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4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4.xml"/><Relationship Id="rId2" Type="http://schemas.openxmlformats.org/officeDocument/2006/relationships/image" Target="../media/image41.png"/><Relationship Id="rId1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4.xml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179501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anose="020B0502040204020203" pitchFamily="34" charset="0"/>
                <a:ea typeface="+mj-ea"/>
                <a:cs typeface="+mj-cs"/>
              </a:rPr>
              <a:t>FINAL YEAR RESEARCH PROJECT </a:t>
            </a:r>
            <a:endParaRPr lang="en-US" sz="2800" spc="-100" dirty="0">
              <a:solidFill>
                <a:schemeClr val="tx2"/>
              </a:solidFill>
              <a:latin typeface="Bahnschrift SemiBold" panose="020B0502040204020203" pitchFamily="34" charset="0"/>
              <a:ea typeface="+mj-ea"/>
              <a:cs typeface="+mj-cs"/>
            </a:endParaRPr>
          </a:p>
          <a:p>
            <a:pPr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Bahnschrift SemiBold" panose="020B0502040204020203" pitchFamily="34" charset="0"/>
                <a:ea typeface="+mj-ea"/>
                <a:cs typeface="+mj-cs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Bahnschrift SemiBold" panose="020B0502040204020203" pitchFamily="34" charset="0"/>
                <a:ea typeface="+mj-ea"/>
                <a:cs typeface="+mj-cs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Bahnschrift SemiBold" panose="020B0502040204020203" pitchFamily="34" charset="0"/>
                <a:ea typeface="+mj-ea"/>
                <a:cs typeface="+mj-cs"/>
              </a:rPr>
              <a:t>-1 </a:t>
            </a:r>
            <a:r>
              <a:rPr lang="en-US" sz="2800" spc="-100" dirty="0">
                <a:solidFill>
                  <a:schemeClr val="tx2"/>
                </a:solidFill>
                <a:latin typeface="Bahnschrift SemiBold" panose="020B0502040204020203" pitchFamily="34" charset="0"/>
                <a:ea typeface="+mj-ea"/>
                <a:cs typeface="+mj-cs"/>
              </a:rPr>
              <a:t>Presentation</a:t>
            </a:r>
            <a:br>
              <a:rPr lang="en-US" sz="1100" dirty="0">
                <a:latin typeface="Bebas Neue"/>
              </a:rPr>
            </a:br>
            <a:r>
              <a:rPr lang="en-US" sz="2000" b="0" strike="noStrike" spc="-1" dirty="0">
                <a:solidFill>
                  <a:srgbClr val="572314"/>
                </a:solidFill>
                <a:latin typeface="Bebas Neue"/>
              </a:rPr>
              <a:t>Autism Disorder Prediction System Using Machine Learning</a:t>
            </a:r>
            <a:endParaRPr lang="en-US" sz="20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283718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/>
          </a:bodyPr>
          <a:lstStyle/>
          <a:p>
            <a:pPr marL="27305">
              <a:lnSpc>
                <a:spcPct val="100000"/>
              </a:lnSpc>
              <a:spcBef>
                <a:spcPts val="600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 panose="020B0502020104020203"/>
              </a:rPr>
              <a:t>Supervised By</a:t>
            </a:r>
            <a:r>
              <a:rPr lang="en-IN" sz="1700" b="1" strike="noStrike" spc="-1">
                <a:solidFill>
                  <a:srgbClr val="361309"/>
                </a:solidFill>
                <a:latin typeface="Gill Sans MT" panose="020B0502020104020203"/>
              </a:rPr>
              <a:t>:</a:t>
            </a:r>
            <a:r>
              <a:rPr lang="en-IN" sz="1700" spc="-1">
                <a:latin typeface="Arial" panose="020B0604020202020204"/>
              </a:rPr>
              <a:t> </a:t>
            </a:r>
            <a:r>
              <a:rPr lang="en-IN" sz="1700" b="1" spc="-1">
                <a:latin typeface="Arial" panose="020B0604020202020204"/>
              </a:rPr>
              <a:t>M</a:t>
            </a:r>
            <a:r>
              <a:rPr lang="en-IN" sz="1700" b="1" strike="noStrike" spc="-1">
                <a:solidFill>
                  <a:srgbClr val="361309"/>
                </a:solidFill>
                <a:latin typeface="Gill Sans MT" panose="020B0502020104020203"/>
              </a:rPr>
              <a:t>r</a:t>
            </a:r>
            <a:r>
              <a:rPr lang="en-IN" sz="1700" b="1" strike="noStrike" spc="-1" dirty="0" err="1">
                <a:solidFill>
                  <a:srgbClr val="361309"/>
                </a:solidFill>
                <a:latin typeface="Gill Sans MT" panose="020B0502020104020203"/>
              </a:rPr>
              <a:t>.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 panose="020B0502020104020203"/>
              </a:rPr>
              <a:t> </a:t>
            </a:r>
            <a:r>
              <a:rPr lang="en-US" altLang="en-IN" sz="1700" b="1" strike="noStrike" spc="-1" dirty="0">
                <a:solidFill>
                  <a:srgbClr val="361309"/>
                </a:solidFill>
                <a:latin typeface="Gill Sans MT" panose="020B0502020104020203"/>
              </a:rPr>
              <a:t> Jason Marandi</a:t>
            </a:r>
            <a:endParaRPr lang="en-US" altLang="en-IN" sz="1700" b="1" strike="noStrike" spc="-1" dirty="0">
              <a:solidFill>
                <a:srgbClr val="361309"/>
              </a:solidFill>
              <a:latin typeface="Gill Sans MT" panose="020B0502020104020203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605" y="2860040"/>
            <a:ext cx="3672205" cy="16808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 panose="020B0502020104020203"/>
              </a:rPr>
              <a:t>Group </a:t>
            </a:r>
            <a:r>
              <a:rPr lang="en-IN" sz="1400" b="1" strike="noStrike" spc="-1">
                <a:solidFill>
                  <a:srgbClr val="0070C0"/>
                </a:solidFill>
                <a:latin typeface="Gill Sans MT" panose="020B0502020104020203"/>
              </a:rPr>
              <a:t>No.:19-07</a:t>
            </a:r>
            <a:endParaRPr lang="en-IN" sz="1400" b="0" strike="noStrike" spc="-1" dirty="0">
              <a:solidFill>
                <a:srgbClr val="0070C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0000"/>
                </a:solidFill>
                <a:latin typeface="Gill Sans MT" panose="020B0502020104020203"/>
              </a:rPr>
              <a:t>Name of the Student(s) with Regd. No.:</a:t>
            </a:r>
            <a:endParaRPr lang="en-IN" sz="1400" b="1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en-IN" sz="1400" b="0" strike="noStrike" spc="-1" dirty="0">
                <a:latin typeface="Arial" panose="020B0604020202020204"/>
              </a:rPr>
              <a:t>1. Snehajeet Jena - 2241010058</a:t>
            </a:r>
            <a:endParaRPr lang="en-US" alt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en-IN" sz="1400" b="0" strike="noStrike" spc="-1" dirty="0">
                <a:latin typeface="Arial" panose="020B0604020202020204"/>
              </a:rPr>
              <a:t>2. Debasish Patra - 2241016266</a:t>
            </a:r>
            <a:endParaRPr lang="en-US" alt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en-IN" sz="1400" b="0" strike="noStrike" spc="-1" dirty="0">
                <a:latin typeface="Arial" panose="020B0604020202020204"/>
              </a:rPr>
              <a:t>3. Abhipsa Padhi   - 2241016005</a:t>
            </a:r>
            <a:endParaRPr lang="en-US" alt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altLang="en-IN" sz="1400" b="0" strike="noStrike" spc="-1" dirty="0">
                <a:latin typeface="Arial" panose="020B0604020202020204"/>
              </a:rPr>
              <a:t>4. Aditya Padhi      - 2241016007</a:t>
            </a:r>
            <a:endParaRPr lang="en-US" alt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 panose="020B0604020202020204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 panose="020B0502020104020203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 panose="020B0502020104020203"/>
              </a:rPr>
              <a:t>Faculty of Engineering &amp; Technology (ITER)</a:t>
            </a:r>
            <a:endParaRPr lang="en-IN" sz="12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 panose="020B0502020104020203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 panose="020B0502020104020203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 panose="020B0502020104020203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 panose="020B0502020104020203"/>
              </a:rPr>
              <a:t> </a:t>
            </a:r>
            <a:endParaRPr lang="en-IN" sz="11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 panose="020B0502020104020203"/>
              </a:rPr>
              <a:t>Bhubaneswar, Odisha</a:t>
            </a:r>
            <a:endParaRPr lang="en-IN" sz="1100" b="0" strike="noStrike" spc="-1" dirty="0">
              <a:latin typeface="Arial" panose="020B0604020202020204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spc="-1" dirty="0">
                <a:latin typeface="Gill Sans MT" panose="020B0502020104020203"/>
              </a:rPr>
              <a:t>Problem Statement &amp; Motivations</a:t>
            </a:r>
            <a:endParaRPr lang="en-US" sz="1600" spc="-1" dirty="0">
              <a:latin typeface="Gill Sans MT" panose="020B0502020104020203"/>
            </a:endParaRPr>
          </a:p>
          <a:p>
            <a:pPr marL="8229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400" spc="-1" dirty="0">
                <a:latin typeface="Gill Sans MT" panose="020B0502020104020203"/>
              </a:rPr>
              <a:t>Problem Statement</a:t>
            </a:r>
            <a:endParaRPr lang="en-US" sz="1400" spc="-1" dirty="0">
              <a:latin typeface="Gill Sans MT" panose="020B0502020104020203"/>
            </a:endParaRPr>
          </a:p>
          <a:p>
            <a:pPr marL="8229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400" spc="-1" dirty="0">
                <a:latin typeface="Gill Sans MT" panose="020B0502020104020203"/>
              </a:rPr>
              <a:t>Motivations</a:t>
            </a:r>
            <a:endParaRPr lang="en-US" sz="1400" spc="-1" dirty="0">
              <a:latin typeface="Gill Sans MT" panose="020B0502020104020203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spc="-1" dirty="0">
                <a:latin typeface="Gill Sans MT" panose="020B0502020104020203"/>
              </a:rPr>
              <a:t>Literature Review</a:t>
            </a:r>
            <a:endParaRPr lang="en-US" sz="1600" spc="-1" dirty="0">
              <a:latin typeface="Gill Sans MT" panose="020B0502020104020203"/>
            </a:endParaRPr>
          </a:p>
          <a:p>
            <a:pPr marL="8229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 panose="020B0502020104020203"/>
              </a:rPr>
              <a:t>Existing Solutions &amp; Limitations </a:t>
            </a:r>
            <a:endParaRPr lang="en-IN" sz="1400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spc="-1" dirty="0">
                <a:latin typeface="Gill Sans MT" panose="020B0502020104020203"/>
              </a:rPr>
              <a:t>Proposed Methodology &amp; </a:t>
            </a:r>
            <a:r>
              <a:rPr lang="en-US" sz="1600" spc="-1">
                <a:latin typeface="Gill Sans MT" panose="020B0502020104020203"/>
              </a:rPr>
              <a:t>Approach </a:t>
            </a:r>
            <a:endParaRPr lang="en-US" sz="1600" spc="-1">
              <a:latin typeface="Gill Sans MT" panose="020B0502020104020203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spc="-1">
                <a:latin typeface="Gill Sans MT" panose="020B0502020104020203"/>
              </a:rPr>
              <a:t>Key </a:t>
            </a:r>
            <a:r>
              <a:rPr lang="en-IN" sz="1600" spc="-1" dirty="0">
                <a:latin typeface="Gill Sans MT" panose="020B0502020104020203"/>
              </a:rPr>
              <a:t>Components/Modules &amp; Algorithms Used</a:t>
            </a:r>
            <a:endParaRPr lang="en-US" sz="1600" spc="-1" dirty="0">
              <a:latin typeface="Gill Sans MT" panose="020B0502020104020203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spc="-1" dirty="0">
                <a:latin typeface="Gill Sans MT" panose="020B0502020104020203"/>
              </a:rPr>
              <a:t>Dataset &amp; Tools/Technologies</a:t>
            </a:r>
            <a:endParaRPr lang="en-IN" sz="1600" spc="-1" dirty="0">
              <a:latin typeface="Gill Sans MT" panose="020B0502020104020203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spc="-1" dirty="0">
                <a:latin typeface="Gill Sans MT" panose="020B0502020104020203"/>
              </a:rPr>
              <a:t>Work Done So Far (Implementation Progress)</a:t>
            </a:r>
            <a:endParaRPr lang="en-US" sz="1600" spc="-1" dirty="0">
              <a:latin typeface="Gill Sans MT" panose="020B0502020104020203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spc="-1" dirty="0">
                <a:latin typeface="Gill Sans MT" panose="020B0502020104020203"/>
              </a:rPr>
              <a:t>Preliminary Results (if any)</a:t>
            </a:r>
            <a:endParaRPr lang="en-IN" sz="1600" spc="-1" dirty="0">
              <a:latin typeface="Gill Sans MT" panose="020B0502020104020203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spc="-1" dirty="0">
                <a:latin typeface="Gill Sans MT" panose="020B0502020104020203"/>
              </a:rPr>
              <a:t>Future Work Plan</a:t>
            </a:r>
            <a:endParaRPr lang="en-US" sz="1600" spc="-1" dirty="0">
              <a:latin typeface="Gill Sans MT" panose="020B0502020104020203"/>
            </a:endParaRPr>
          </a:p>
          <a:p>
            <a:pPr marL="3657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da-DK" sz="1600" spc="-1" dirty="0">
                <a:latin typeface="Gill Sans MT" panose="020B0502020104020203"/>
              </a:rPr>
              <a:t>References</a:t>
            </a:r>
            <a:endParaRPr lang="en-US" sz="1600" spc="-1" dirty="0">
              <a:latin typeface="Gill Sans MT" panose="020B0502020104020203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800" b="1" spc="-1" dirty="0">
              <a:solidFill>
                <a:srgbClr val="5723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Autism Spectrum Disorder (ASD) is a complex neurodevelopmental condition affecting communication, social interaction, and behavior.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Symptoms vary widely across individuals, making early identification difficult.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Current diagnosis methods rely heavily on behavioral assessments and expert evaluation.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Traditional approaches are time-consuming, subjective, and not easily accessible, especially in rural areas.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Delayed diagnosis reduces the effectiveness of early intervention and support.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There is a need for a fast, reliable, and data-driven system for early autism prediction.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688340" indent="-285750">
              <a:lnSpc>
                <a:spcPct val="100000"/>
              </a:lnSpc>
              <a:spcBef>
                <a:spcPts val="550"/>
              </a:spcBef>
              <a:buFont typeface="Arial" panose="020B0604020202020204" pitchFamily="34" charset="0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  <a:endParaRPr lang="en-US" sz="2800" b="1" spc="-1" dirty="0">
              <a:solidFill>
                <a:srgbClr val="5723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Increasing prevalence of Autism Spectrum Disorder (ASD) worldwide.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Early detection is crucial for effective intervention and improved outcomes.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Traditional diagnostic methods are time-consuming and dependent on experts.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Limited accessibility of specialized healthcare in rural and underdeveloped areas.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Need for a fast, cost-effective, and scalable screening system.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strike="noStrike" spc="-1" dirty="0">
                <a:solidFill>
                  <a:srgbClr val="000000"/>
                </a:solidFill>
                <a:latin typeface="Gill Sans MT" panose="020B0502020104020203"/>
              </a:rPr>
              <a:t>Machine Learning enables data-driven, accurate, and automated prediction.</a:t>
            </a:r>
            <a:endParaRPr lang="en-US" altLang="en-US" sz="16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endParaRPr lang="en-US" sz="14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 marL="402590">
              <a:lnSpc>
                <a:spcPct val="100000"/>
              </a:lnSpc>
              <a:spcBef>
                <a:spcPts val="550"/>
              </a:spcBef>
            </a:pPr>
            <a:endParaRPr lang="en-US" sz="1400" b="0" strike="noStrike" spc="-1" dirty="0">
              <a:solidFill>
                <a:srgbClr val="000000"/>
              </a:solidFill>
              <a:latin typeface="Gill Sans MT" panose="020B0502020104020203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1400" b="0" strike="noStrike" spc="-1" dirty="0">
              <a:solidFill>
                <a:srgbClr val="000000"/>
              </a:solidFill>
              <a:latin typeface="Gill Sans MT" panose="020B0502020104020203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315" y="0"/>
            <a:ext cx="8290560" cy="2768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11200" b="1" spc="-1" dirty="0">
              <a:solidFill>
                <a:srgbClr val="5723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253" y="485535"/>
          <a:ext cx="8942070" cy="4731385"/>
        </p:xfrm>
        <a:graphic>
          <a:graphicData uri="http://schemas.openxmlformats.org/drawingml/2006/table">
            <a:tbl>
              <a:tblPr/>
              <a:tblGrid>
                <a:gridCol w="580390"/>
                <a:gridCol w="1131570"/>
                <a:gridCol w="1624330"/>
                <a:gridCol w="1868365"/>
                <a:gridCol w="1370330"/>
                <a:gridCol w="2367280"/>
              </a:tblGrid>
              <a:tr h="368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>
                          <a:latin typeface="Gill Sans MT" panose="020B0502020104020203" pitchFamily="34" charset="0"/>
                        </a:rPr>
                        <a:t>S. No.</a:t>
                      </a:r>
                      <a:endParaRPr lang="en-IN" sz="1050" b="1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>
                          <a:latin typeface="Gill Sans MT" panose="020B0502020104020203" pitchFamily="34" charset="0"/>
                        </a:rPr>
                        <a:t>Author &amp; Year</a:t>
                      </a:r>
                      <a:endParaRPr lang="en-IN" sz="1050" b="1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>
                          <a:latin typeface="Gill Sans MT" panose="020B0502020104020203" pitchFamily="34" charset="0"/>
                        </a:rPr>
                        <a:t>Methods/Techniques Used</a:t>
                      </a:r>
                      <a:endParaRPr lang="en-IN" sz="1050" b="1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>
                          <a:latin typeface="Gill Sans MT" panose="020B0502020104020203" pitchFamily="34" charset="0"/>
                        </a:rPr>
                        <a:t>Dataset Used</a:t>
                      </a:r>
                      <a:endParaRPr lang="en-IN" sz="1050" b="1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baseline="0" dirty="0">
                          <a:latin typeface="Gill Sans MT" panose="020B0502020104020203" pitchFamily="34" charset="0"/>
                        </a:rPr>
                        <a:t> Research </a:t>
                      </a:r>
                      <a:r>
                        <a:rPr lang="en-IN" sz="1050" b="1" dirty="0">
                          <a:latin typeface="Gill Sans MT" panose="020B0502020104020203" pitchFamily="34" charset="0"/>
                        </a:rPr>
                        <a:t>Outcomes</a:t>
                      </a:r>
                      <a:endParaRPr lang="en-IN" sz="1050" b="1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>
                          <a:latin typeface="Gill Sans MT" panose="020B0502020104020203" pitchFamily="34" charset="0"/>
                        </a:rPr>
                        <a:t>Findings</a:t>
                      </a:r>
                      <a:endParaRPr lang="en-IN" sz="1050" b="1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IN" sz="1050" dirty="0">
                          <a:latin typeface="Gill Sans MT" panose="020B0502020104020203" pitchFamily="34" charset="0"/>
                        </a:rPr>
                        <a:t>1</a:t>
                      </a:r>
                      <a:endParaRPr lang="en-US" altLang="en-IN" sz="1050" dirty="0">
                        <a:latin typeface="Gill Sans MT" panose="020B05020201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latin typeface="Gill Sans MT" panose="020B0502020104020203" pitchFamily="34" charset="0"/>
                        </a:rPr>
                        <a:t>  </a:t>
                      </a:r>
                      <a:r>
                        <a:rPr lang="en-US" altLang="en-US" sz="1050">
                          <a:latin typeface="Gill Sans MT" panose="020B0502020104020203" pitchFamily="34" charset="0"/>
                        </a:rPr>
                        <a:t>S. M. Mahedy Hasan </a:t>
                      </a:r>
                      <a:r>
                        <a:rPr lang="en-IN" altLang="en-US" sz="1050">
                          <a:latin typeface="Gill Sans MT" panose="020B0502020104020203" pitchFamily="34" charset="0"/>
                        </a:rPr>
                        <a:t>    </a:t>
                      </a:r>
                      <a:r>
                        <a:rPr lang="en-US" altLang="en-US" sz="1050">
                          <a:latin typeface="Gill Sans MT" panose="020B0502020104020203" pitchFamily="34" charset="0"/>
                        </a:rPr>
                        <a:t>(2023)</a:t>
                      </a:r>
                      <a:endParaRPr lang="en-US" altLang="en-US" sz="1050"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• Feature Scaling (QT, PT, Normalizer)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• AdaBoost, RF, DT, KNN, NB, LR, SVM, LD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900" dirty="0">
                          <a:latin typeface="Gill Sans MT" panose="020B0502020104020203" pitchFamily="34" charset="0"/>
                        </a:rPr>
                        <a:t>ASD Toddlers Dataset</a:t>
                      </a:r>
                      <a:endParaRPr lang="en-US" altLang="en-US" sz="900" dirty="0">
                        <a:latin typeface="Gill Sans MT" panose="020B0502020104020203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 sz="900" dirty="0">
                          <a:latin typeface="Gill Sans MT" panose="020B0502020104020203" pitchFamily="34" charset="0"/>
                        </a:rPr>
                        <a:t>ASD Children Dataset</a:t>
                      </a:r>
                      <a:endParaRPr lang="en-US" altLang="en-US" sz="900" dirty="0">
                        <a:latin typeface="Gill Sans MT" panose="020B0502020104020203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 sz="900" dirty="0">
                          <a:latin typeface="Gill Sans MT" panose="020B0502020104020203" pitchFamily="34" charset="0"/>
                        </a:rPr>
                        <a:t>ASD Adolescents Dataset</a:t>
                      </a:r>
                      <a:endParaRPr lang="en-US" altLang="en-US" sz="900" dirty="0">
                        <a:latin typeface="Gill Sans MT" panose="020B0502020104020203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 sz="900" dirty="0">
                          <a:latin typeface="Gill Sans MT" panose="020B0502020104020203" pitchFamily="34" charset="0"/>
                        </a:rPr>
                        <a:t>ASD Adults Dataset</a:t>
                      </a:r>
                      <a:endParaRPr lang="en-US" altLang="en-US" sz="900" dirty="0">
                        <a:latin typeface="Gill Sans MT" panose="020B05020201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99.25% (AdaBoost – Toddlers)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99.03% (LDA – Adults)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Feature scaling improves accuracy; no single best mode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IN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latin typeface="Gill Sans MT" panose="020B0502020104020203" pitchFamily="34" charset="0"/>
                        </a:rPr>
                        <a:t>    Prasenjit Mukherjee (2023)</a:t>
                      </a:r>
                      <a:endParaRPr lang="en-IN" sz="1050"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• NLP (Sentiment Analysis)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• SVM, LR, KNN, RF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AdaBoost</a:t>
                      </a:r>
                      <a:endParaRPr lang="en-IN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  <a:sym typeface="+mn-ea"/>
                        </a:rPr>
                        <a:t>Autism Spectrum Disorder Screening Datasets(</a:t>
                      </a: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ASD_Symptoms.csv)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67</a:t>
                      </a: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% using </a:t>
                      </a:r>
                      <a:r>
                        <a:rPr lang="en-IN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SVM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endParaRPr lang="en-IN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50" dirty="0">
                          <a:latin typeface="Gill Sans MT" panose="020B0502020104020203" pitchFamily="34" charset="0"/>
                          <a:sym typeface="+mn-ea"/>
                        </a:rPr>
                        <a:t>Lack of Feature Engineering</a:t>
                      </a:r>
                      <a:r>
                        <a:rPr lang="en-US" altLang="en-US" sz="1050" dirty="0">
                          <a:latin typeface="Gill Sans MT" panose="020B0502020104020203" pitchFamily="34" charset="0"/>
                          <a:sym typeface="+mn-ea"/>
                        </a:rPr>
                        <a:t>;</a:t>
                      </a: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; effective for structured data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latin typeface="Gill Sans MT" panose="020B0502020104020203" pitchFamily="34" charset="0"/>
                        </a:rPr>
                        <a:t>3</a:t>
                      </a:r>
                      <a:endParaRPr lang="en-IN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Abdelwahab</a:t>
                      </a:r>
                      <a:r>
                        <a:rPr lang="en-IN" altLang="en-US" sz="1050" dirty="0">
                          <a:latin typeface="Gill Sans MT" panose="020B0502020104020203" pitchFamily="34" charset="0"/>
                        </a:rPr>
                        <a:t> Ridlan</a:t>
                      </a: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. (2024)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LR, SVM, Random Forest, KNN, Decision Tree (C4.5)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Autism Screening Adult Data Set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b="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94% accuracy using C4.5 algorithm</a:t>
                      </a:r>
                      <a:endParaRPr lang="en-US" altLang="en-US" sz="1050" b="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  <a:sym typeface="+mn-ea"/>
                        </a:rPr>
                        <a:t>Decision tree (C4.5) outperforms linear regression 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latin typeface="Gill Sans MT" panose="020B0502020104020203" pitchFamily="34" charset="0"/>
                        </a:rPr>
                        <a:t>4</a:t>
                      </a:r>
                      <a:endParaRPr lang="en-IN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Mahmoud M. Abdelwahab (2024)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ANN, SVM, Decision Tree, KNN, Random Forest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ASD Screening Data for Adult, Children, and Adolescent</a:t>
                      </a:r>
                      <a:r>
                        <a:rPr lang="en-IN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(UCI and Kaggle)</a:t>
                      </a:r>
                      <a:endParaRPr lang="en-IN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99.75% accuracy using Random Fores</a:t>
                      </a:r>
                      <a:r>
                        <a:rPr lang="en-IN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IN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Random Forest outperforms all other models with highest accuracy in ASD prediction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59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IN" sz="1050" dirty="0">
                          <a:latin typeface="Gill Sans MT" panose="020B0502020104020203" pitchFamily="34" charset="0"/>
                        </a:rPr>
                        <a:t>5</a:t>
                      </a:r>
                      <a:endParaRPr lang="en-US" altLang="en-IN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Rasul et al. (2024)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SVM, LR, ANN + Clustering + Feature Selection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>
                          <a:latin typeface="Gill Sans MT" panose="020B0502020104020203" pitchFamily="34" charset="0"/>
                        </a:rPr>
                        <a:t>ASD Screening Combined Data</a:t>
                      </a:r>
                      <a:r>
                        <a:rPr lang="en-IN" altLang="en-US" sz="1050">
                          <a:latin typeface="Gill Sans MT" panose="020B0502020104020203" pitchFamily="34" charset="0"/>
                        </a:rPr>
                        <a:t>(Children + Adult)</a:t>
                      </a:r>
                      <a:endParaRPr lang="en-IN" altLang="en-US" sz="105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>
                          <a:latin typeface="Gill Sans MT" panose="020B0502020104020203" pitchFamily="34" charset="0"/>
                        </a:rPr>
                        <a:t>94.24% accuracy using ANN (Combined dataset)</a:t>
                      </a:r>
                      <a:endParaRPr lang="en-US" altLang="en-US" sz="105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ANN performs best for combined dataset; model performance improves with feature selection and hyperparameter tuning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0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altLang="en-US" sz="1050" dirty="0">
                          <a:latin typeface="Gill Sans MT" panose="020B0502020104020203" pitchFamily="34" charset="0"/>
                        </a:rPr>
                        <a:t>6</a:t>
                      </a:r>
                      <a:endParaRPr lang="en-IN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R. Surendiran (2022</a:t>
                      </a:r>
                      <a:r>
                        <a:rPr lang="en-IN" altLang="en-US" sz="1050" dirty="0">
                          <a:latin typeface="Gill Sans MT" panose="020B0502020104020203" pitchFamily="34" charset="0"/>
                        </a:rPr>
                        <a:t>)</a:t>
                      </a:r>
                      <a:endParaRPr lang="en-IN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• ANN, SVM, KNN, DT, RF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• Feature Selection</a:t>
                      </a:r>
                      <a:endParaRPr lang="en-US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>
                          <a:latin typeface="Gill Sans MT" panose="020B0502020104020203" pitchFamily="34" charset="0"/>
                        </a:rPr>
                        <a:t>ASD Screening Dataset (Adult, Children, Adolescent)</a:t>
                      </a:r>
                      <a:endParaRPr lang="en-US" altLang="en-US" sz="105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97.68% accuracy using ANN</a:t>
                      </a:r>
                      <a:endParaRPr lang="en-US" altLang="en-US" sz="105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  <a:p>
                      <a:pPr algn="l">
                        <a:buNone/>
                      </a:pPr>
                      <a:endParaRPr lang="en-US" altLang="en-US" sz="105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050" dirty="0">
                          <a:latin typeface="Gill Sans MT" panose="020B0502020104020203" pitchFamily="34" charset="0"/>
                        </a:rPr>
                        <a:t>ANN achieves highest accuracy; feature selection reduces dimensionality</a:t>
                      </a:r>
                      <a:r>
                        <a:rPr lang="en-IN" altLang="en-US" sz="1050" dirty="0">
                          <a:latin typeface="Gill Sans MT" panose="020B0502020104020203" pitchFamily="34" charset="0"/>
                        </a:rPr>
                        <a:t> and improves prediction</a:t>
                      </a:r>
                      <a:endParaRPr lang="en-IN" altLang="en-US" sz="1050" dirty="0">
                        <a:latin typeface="Gill Sans MT" panose="020B0502020104020203" pitchFamily="34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1544320" y="267335"/>
            <a:ext cx="54279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ym typeface="+mn-ea"/>
              </a:rPr>
              <a:t>Table 1:Summary of Existing Approaches and Research </a:t>
            </a:r>
            <a:r>
              <a:rPr lang="en-IN" sz="1200" dirty="0">
                <a:sym typeface="+mn-ea"/>
              </a:rPr>
              <a:t>Limitations</a:t>
            </a:r>
            <a:endParaRPr lang="en-IN" sz="120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Gap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337791" y="1095465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Most studies focus on post-diagnosis or complex clinical data, not early screening.</a:t>
            </a: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Lack of feature engineering to extract meaningful insights.</a:t>
            </a: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 imbalance issues not properly handled.</a:t>
            </a: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Limited focus on scalable and user-friendly systems.</a:t>
            </a: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Existing models lack generalization on unseen real-world data.</a:t>
            </a:r>
            <a:endParaRPr kumimoji="0" lang="en-US" alt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0259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Solution &amp; Architecture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0259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043608" y="3803144"/>
            <a:ext cx="6408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/>
          </a:p>
          <a:p>
            <a:pPr algn="ctr"/>
            <a:r>
              <a:rPr lang="en-US" sz="1200"/>
              <a:t>Fig. 1: Workflow of the Proposed Model</a:t>
            </a:r>
            <a:endParaRPr lang="en-US" sz="1200"/>
          </a:p>
          <a:p>
            <a:pPr algn="ctr"/>
            <a:endParaRPr lang="en-IN" sz="12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843558"/>
            <a:ext cx="6048672" cy="409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Dataset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28596" y="915566"/>
            <a:ext cx="8504804" cy="3960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>
              <a:defRPr/>
            </a:pPr>
            <a:r>
              <a:rPr lang="en-IN" sz="1200">
                <a:latin typeface="Arial (Body)"/>
              </a:rPr>
              <a:t>Table 2: Summary of Experimental Dataset</a:t>
            </a:r>
            <a:endParaRPr lang="en-IN" sz="1200">
              <a:latin typeface="Arial (Body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0259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spc="-1" noProof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spc="-1" noProof="0">
              <a:solidFill>
                <a:srgbClr val="000000"/>
              </a:solidFill>
              <a:latin typeface="Gill Sans MT" panose="020B0502020104020203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Gill Sans MT" panose="020B0502020104020203" pitchFamily="34" charset="0"/>
              </a:rPr>
              <a:t>The dataset is a merged autism screening dataset collected from </a:t>
            </a:r>
            <a:r>
              <a:rPr lang="en-US" sz="1200" b="1">
                <a:latin typeface="Gill Sans MT" panose="020B0502020104020203" pitchFamily="34" charset="0"/>
              </a:rPr>
              <a:t>Kaggle</a:t>
            </a:r>
            <a:r>
              <a:rPr lang="en-US" sz="1200">
                <a:latin typeface="Gill Sans MT" panose="020B0502020104020203" pitchFamily="34" charset="0"/>
              </a:rPr>
              <a:t> and </a:t>
            </a:r>
            <a:r>
              <a:rPr lang="en-US" sz="1200" b="1">
                <a:latin typeface="Gill Sans MT" panose="020B0502020104020203" pitchFamily="34" charset="0"/>
              </a:rPr>
              <a:t>UCI Machine Learning Repository</a:t>
            </a:r>
            <a:r>
              <a:rPr lang="en-US" sz="1200">
                <a:latin typeface="Gill Sans MT" panose="020B0502020104020203" pitchFamily="34" charset="0"/>
              </a:rPr>
              <a:t>, where both sources had similar features, so they were combined to increase data size and improve model performance. </a:t>
            </a:r>
            <a:endParaRPr lang="en-US" sz="1200">
              <a:latin typeface="Gill Sans MT" panose="020B05020201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Gill Sans MT" panose="020B0502020104020203" pitchFamily="34" charset="0"/>
              </a:rPr>
              <a:t>It is a tabular dataset for binary classification, containing features like age, gender, medical history (jaundice), and AQ-10 behavioral scores (A1–A10), which represent autism-related traits . </a:t>
            </a:r>
            <a:endParaRPr lang="en-US" sz="1200">
              <a:latin typeface="Gill Sans MT" panose="020B05020201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Gill Sans MT" panose="020B0502020104020203" pitchFamily="34" charset="0"/>
              </a:rPr>
              <a:t>The target variable is Class/ASD (0 or 1), where the model predicts whether a person has autism or not based on behavioral and demographic features.</a:t>
            </a: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spc="-1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7544" y="1313576"/>
          <a:ext cx="8374596" cy="1210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211"/>
                <a:gridCol w="1200138"/>
                <a:gridCol w="1543220"/>
                <a:gridCol w="1262937"/>
                <a:gridCol w="1392212"/>
                <a:gridCol w="1630878"/>
              </a:tblGrid>
              <a:tr h="34005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Dataset Name</a:t>
                      </a:r>
                      <a:endParaRPr lang="en-IN" sz="16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Task Type</a:t>
                      </a:r>
                      <a:endParaRPr lang="en-IN" sz="16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Dataset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Type</a:t>
                      </a:r>
                      <a:endParaRPr lang="en-IN" sz="16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Sample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 Size</a:t>
                      </a:r>
                      <a:endParaRPr lang="en-IN" sz="16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Feature size</a:t>
                      </a:r>
                      <a:endParaRPr lang="en-IN" sz="16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Data Split Ratio(%)</a:t>
                      </a:r>
                      <a:endParaRPr lang="en-IN" sz="16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312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200" b="0" kern="1200">
                          <a:solidFill>
                            <a:schemeClr val="dk1"/>
                          </a:solidFill>
                          <a:effectLst/>
                          <a:latin typeface="Gill Sans MT" panose="020B0502020104020203" pitchFamily="34" charset="0"/>
                        </a:rPr>
                        <a:t>Autism_Dataset</a:t>
                      </a:r>
                      <a:endParaRPr lang="en-IN" sz="1200" b="0" kern="1200" dirty="0">
                        <a:solidFill>
                          <a:schemeClr val="dk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Binary-Classification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Tabular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2000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16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80-20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357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Tools</a:t>
            </a: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/Technologies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-357881" y="1202758"/>
            <a:ext cx="8504804" cy="417730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17451" y="1275716"/>
          <a:ext cx="5087888" cy="3684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255"/>
                <a:gridCol w="2539633"/>
              </a:tblGrid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Category</a:t>
                      </a:r>
                      <a:endParaRPr lang="en-IN" sz="1600">
                        <a:solidFill>
                          <a:schemeClr val="tx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Tools/Technologies</a:t>
                      </a:r>
                      <a:endParaRPr lang="en-IN" sz="1600">
                        <a:solidFill>
                          <a:schemeClr val="tx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Programming Language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Gill Sans MT" panose="020B0502020104020203" pitchFamily="34" charset="0"/>
                        </a:rPr>
                        <a:t>Python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Data Handling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Pandas, NumPy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Data Visualization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Matplotlib, Seaborn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476432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Data Preprocessing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LabelEncoder, PowerTransformer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Machine Learning Model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Logistic Regression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Gill Sans MT" panose="020B0502020104020203" pitchFamily="34" charset="0"/>
                        </a:rPr>
                        <a:t>M</a:t>
                      </a:r>
                      <a:r>
                        <a:rPr lang="en-IN" sz="1200">
                          <a:latin typeface="Gill Sans MT" panose="020B0502020104020203" pitchFamily="34" charset="0"/>
                        </a:rPr>
                        <a:t>odel Optimization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GridSearchCV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476432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Model Evaluation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Gill Sans MT" panose="020B0502020104020203" pitchFamily="34" charset="0"/>
                        </a:rPr>
                        <a:t>Accuracy, Confusion Matrix, Classification Report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Framework/Library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Scikit-learn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476432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Development Environment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Jupyter Notebook / VS Code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272248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Model Saving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Gill Sans MT" panose="020B0502020104020203" pitchFamily="34" charset="0"/>
                        </a:rPr>
                        <a:t>Pickle </a:t>
                      </a:r>
                      <a:endParaRPr lang="en-IN" sz="12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04015" y="925796"/>
            <a:ext cx="5087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Table:03 </a:t>
            </a:r>
            <a:r>
              <a:rPr lang="en-IN" sz="1200">
                <a:latin typeface="Arial (Body)"/>
              </a:rPr>
              <a:t>Summary of Tools and Technologies</a:t>
            </a:r>
            <a:endParaRPr lang="en-IN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Progress in Implementation Plan &amp; Methodology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400005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>
              <a:buAutoNum type="arabicPeriod"/>
              <a:defRPr/>
            </a:pPr>
            <a:r>
              <a:rPr lang="en-IN" sz="1400">
                <a:latin typeface="Gill Sans MT" panose="020B0502020104020203" pitchFamily="34" charset="0"/>
              </a:rPr>
              <a:t>Dataset Collection</a:t>
            </a:r>
            <a:endParaRPr lang="en-IN" sz="1400">
              <a:latin typeface="Gill Sans MT" panose="020B05020201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The dataset was collected from </a:t>
            </a:r>
            <a:r>
              <a:rPr lang="en-US" sz="1400" b="1"/>
              <a:t>Kaggle and UCI Machine Learning Repository</a:t>
            </a:r>
            <a:r>
              <a:rPr lang="en-US" sz="1400"/>
              <a:t>, similar to the paper which also used multiple ASD datasets across age groups.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Both datasets contained </a:t>
            </a:r>
            <a:r>
              <a:rPr lang="en-US" sz="1400" b="1"/>
              <a:t>AQ-based behavioral features</a:t>
            </a:r>
            <a:r>
              <a:rPr lang="en-US" sz="1400"/>
              <a:t>, which are widely used in autism screening as mentioned in the paper.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The datasets were merged since they had </a:t>
            </a:r>
            <a:r>
              <a:rPr lang="en-US" sz="1400" b="1"/>
              <a:t>similar feature structures</a:t>
            </a:r>
            <a:r>
              <a:rPr lang="en-US" sz="1400"/>
              <a:t>, increasing data size and improving model robustness</a:t>
            </a:r>
            <a:endParaRPr lang="en-US" sz="1400" spc="-1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L="342900" lvl="0" indent="-342900">
              <a:buAutoNum type="arabicPeriod"/>
              <a:defRPr/>
            </a:pPr>
            <a:r>
              <a:rPr lang="en-IN" sz="1400"/>
              <a:t>Data Preprocessing</a:t>
            </a:r>
            <a:endParaRPr lang="en-IN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Missing values were handled, similar to the preprocessing steps.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Categorical features were encoded into numerical values, as required for ML models using label encoding.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Feature scaling was applied to normalize data, which improves model performance.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Data cleaning was performed to remove inconsistencies and noise.</a:t>
            </a:r>
            <a:endParaRPr lang="en-US" sz="1400"/>
          </a:p>
          <a:p>
            <a:pPr marL="342900" lvl="0" indent="-342900">
              <a:buAutoNum type="arabicPeriod"/>
              <a:defRPr/>
            </a:pPr>
            <a:r>
              <a:rPr lang="en-IN" sz="1400"/>
              <a:t>Feature Engineering</a:t>
            </a:r>
            <a:endParaRPr lang="en-IN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Applied feature selection using SelectKBest to choose important features..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Removed irrelevant or redundant features to reduce complexity..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Transformed features to improve data representation.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400"/>
          </a:p>
          <a:p>
            <a:pPr lvl="1">
              <a:defRPr/>
            </a:pP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400" spc="-1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lang="en-US" sz="2800" spc="-1">
              <a:solidFill>
                <a:srgbClr val="000000"/>
              </a:solidFill>
              <a:latin typeface="Gill Sans MT" panose="020B0502020104020203"/>
            </a:endParaRPr>
          </a:p>
          <a:p>
            <a:pPr lvl="0">
              <a:defRPr/>
            </a:pPr>
            <a:endParaRPr lang="en-US" sz="2800" spc="-1">
              <a:solidFill>
                <a:srgbClr val="000000"/>
              </a:solidFill>
              <a:latin typeface="Gill Sans MT" panose="020B0502020104020203"/>
            </a:endParaRPr>
          </a:p>
          <a:p>
            <a:pPr marL="402590" lvl="0">
              <a:spcBef>
                <a:spcPts val="550"/>
              </a:spcBef>
              <a:defRPr/>
            </a:pPr>
            <a:endParaRPr lang="en-US" sz="2800" spc="-1">
              <a:solidFill>
                <a:srgbClr val="000000"/>
              </a:solidFill>
              <a:latin typeface="Gill Sans MT" panose="020B0502020104020203"/>
            </a:endParaRPr>
          </a:p>
          <a:p>
            <a:pPr lvl="0">
              <a:spcBef>
                <a:spcPts val="600"/>
              </a:spcBef>
              <a:defRPr/>
            </a:pPr>
            <a:endParaRPr lang="en-US" sz="2800" spc="-1" dirty="0">
              <a:solidFill>
                <a:srgbClr val="000000"/>
              </a:solidFill>
              <a:latin typeface="Gill Sans MT" panose="020B0502020104020203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Progress in Implementation Plan </a:t>
            </a:r>
            <a:r>
              <a:rPr kumimoji="0" lang="en-US" sz="2800" b="1" i="0" u="none" strike="noStrike" kern="1200" cap="none" spc="-1" normalizeH="0" baseline="0" noProof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 Methodology(Contd…)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85155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>
              <a:buFont typeface="+mj-lt"/>
              <a:buAutoNum type="arabicPeriod" startAt="4"/>
              <a:defRPr/>
            </a:pPr>
            <a:r>
              <a:rPr lang="en-IN" sz="1400"/>
              <a:t>Data Splitting</a:t>
            </a:r>
            <a:endParaRPr lang="en-IN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Divided dataset into training and testing sets (80:20 ratio).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Training data used for learning patterns by the model.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Testing data used for evaluating model performance.</a:t>
            </a:r>
            <a:endParaRPr lang="en-US" sz="1400" spc="-1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L="342900" lvl="0" indent="-342900">
              <a:buAutoNum type="arabicPeriod" startAt="4"/>
              <a:defRPr/>
            </a:pPr>
            <a:r>
              <a:rPr lang="en-IN" sz="1400"/>
              <a:t>Model Training (Logistic Regression)</a:t>
            </a:r>
            <a:endParaRPr lang="en-IN" sz="1400"/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/>
              <a:t>Selected Logistic Regression for binary classification.</a:t>
            </a:r>
            <a:endParaRPr lang="en-US" sz="1400"/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/>
              <a:t>Trained model using training dataset..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Learned relationship between input features and target output..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Prepared model for prediction and evaluation.</a:t>
            </a:r>
            <a:endParaRPr lang="en-US" sz="1400"/>
          </a:p>
          <a:p>
            <a:pPr marL="342900" lvl="0" indent="-342900">
              <a:buAutoNum type="arabicPeriod" startAt="4"/>
              <a:defRPr/>
            </a:pPr>
            <a:r>
              <a:rPr lang="en-IN" sz="1400"/>
              <a:t>Model Evaluation</a:t>
            </a:r>
            <a:endParaRPr lang="en-IN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Evaluated model using test dataset.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Used multiple metrics: accuracy, precision, recall, F1-score.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Compared predicted vs actual values.</a:t>
            </a:r>
            <a:endParaRPr lang="en-US" sz="1400"/>
          </a:p>
          <a:p>
            <a:pPr marL="342900" lvl="0" indent="-342900">
              <a:buAutoNum type="arabicPeriod" startAt="4"/>
              <a:defRPr/>
            </a:pPr>
            <a:r>
              <a:rPr lang="en-IN" sz="1400"/>
              <a:t>Prediction Output</a:t>
            </a:r>
            <a:endParaRPr lang="en-IN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Generated final prediction based on trained model.</a:t>
            </a: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/>
              <a:t>Classified output as Autism (Yes) or No Autism (No).</a:t>
            </a:r>
            <a:endParaRPr lang="en-US" sz="1400"/>
          </a:p>
          <a:p>
            <a:pPr marL="342900" lvl="0" indent="-342900">
              <a:buAutoNum type="arabicPeriod" startAt="4"/>
              <a:defRPr/>
            </a:pPr>
            <a:endParaRPr lang="en-US" sz="1400"/>
          </a:p>
          <a:p>
            <a:pPr lvl="1">
              <a:defRPr/>
            </a:pP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400"/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400" spc="-1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lang="en-US" sz="2800" spc="-1">
              <a:solidFill>
                <a:srgbClr val="000000"/>
              </a:solidFill>
              <a:latin typeface="Gill Sans MT" panose="020B0502020104020203"/>
            </a:endParaRPr>
          </a:p>
          <a:p>
            <a:pPr lvl="0">
              <a:defRPr/>
            </a:pPr>
            <a:endParaRPr lang="en-US" sz="2800" spc="-1">
              <a:solidFill>
                <a:srgbClr val="000000"/>
              </a:solidFill>
              <a:latin typeface="Gill Sans MT" panose="020B0502020104020203"/>
            </a:endParaRPr>
          </a:p>
          <a:p>
            <a:pPr marL="402590" lvl="0">
              <a:spcBef>
                <a:spcPts val="550"/>
              </a:spcBef>
              <a:defRPr/>
            </a:pPr>
            <a:endParaRPr lang="en-US" sz="2800" spc="-1">
              <a:solidFill>
                <a:srgbClr val="000000"/>
              </a:solidFill>
              <a:latin typeface="Gill Sans MT" panose="020B0502020104020203"/>
            </a:endParaRPr>
          </a:p>
          <a:p>
            <a:pPr lvl="0">
              <a:spcBef>
                <a:spcPts val="600"/>
              </a:spcBef>
              <a:defRPr/>
            </a:pPr>
            <a:endParaRPr lang="en-US" sz="2800" spc="-1" dirty="0">
              <a:solidFill>
                <a:srgbClr val="000000"/>
              </a:solidFill>
              <a:latin typeface="Gill Sans MT" panose="020B0502020104020203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 Analysis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4647460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0" algn="ctr">
              <a:defRPr/>
            </a:pP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0259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4" y="1066808"/>
            <a:ext cx="3955466" cy="305644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32040" y="1203598"/>
            <a:ext cx="37833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latin typeface="Gill Sans MT" panose="020B0502020104020203" pitchFamily="34" charset="0"/>
              </a:rPr>
              <a:t>Correct Predictions</a:t>
            </a:r>
            <a:endParaRPr lang="en-IN" sz="1400" b="1">
              <a:latin typeface="Gill Sans MT" panose="020B05020201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The model correctly predicted 82 non-autism (TN) and 100 autism cases (TP), showing strong overall performance.</a:t>
            </a:r>
            <a:endParaRPr lang="en-US" sz="1400"/>
          </a:p>
          <a:p>
            <a:pPr lvl="1"/>
            <a:endParaRPr lang="en-IN" sz="1400">
              <a:latin typeface="Gill Sans MT" panose="020B0502020104020203" pitchFamily="34" charset="0"/>
            </a:endParaRPr>
          </a:p>
          <a:p>
            <a:r>
              <a:rPr lang="en-IN" sz="1400" b="1">
                <a:latin typeface="Gill Sans MT" panose="020B0502020104020203" pitchFamily="34" charset="0"/>
              </a:rPr>
              <a:t>Errors Made by Model</a:t>
            </a:r>
            <a:endParaRPr lang="en-IN" sz="1400" b="1">
              <a:latin typeface="Gill Sans MT" panose="020B05020201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There are 8 false positives (wrongly predicted autism) and 10 false negatives (missed autism cases), which are relatively low.</a:t>
            </a:r>
            <a:endParaRPr lang="en-IN" sz="1400">
              <a:latin typeface="Gill Sans MT" panose="020B0502020104020203" pitchFamily="34" charset="0"/>
            </a:endParaRPr>
          </a:p>
          <a:p>
            <a:r>
              <a:rPr lang="en-US" sz="1400"/>
              <a:t>.</a:t>
            </a:r>
            <a:endParaRPr lang="en-IN" sz="1400">
              <a:latin typeface="Gill Sans MT" panose="020B05020201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7584" y="4443958"/>
            <a:ext cx="38164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Fig 02: Confusion Matrix</a:t>
            </a:r>
            <a:endParaRPr lang="en-IN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08204" y="26352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 Analysis</a:t>
            </a:r>
            <a:r>
              <a:rPr lang="en-US" sz="2800" b="1" spc="-1" noProof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(Contd…)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356588" y="114345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0" algn="ctr">
              <a:defRPr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Table:-04  Model performance of the Autism Dataset</a:t>
            </a: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0259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541712" y="478656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01824" y="59400"/>
            <a:ext cx="970168" cy="91367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03648" y="1693156"/>
          <a:ext cx="6096000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64807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Model</a:t>
                      </a:r>
                      <a:endParaRPr lang="en-IN" sz="1600">
                        <a:solidFill>
                          <a:schemeClr val="tx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Accuracy</a:t>
                      </a:r>
                      <a:endParaRPr lang="en-IN" sz="1600">
                        <a:solidFill>
                          <a:schemeClr val="tx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Precision</a:t>
                      </a:r>
                      <a:endParaRPr lang="en-IN" sz="1600">
                        <a:solidFill>
                          <a:schemeClr val="tx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Recall</a:t>
                      </a:r>
                      <a:endParaRPr lang="en-IN" sz="1600">
                        <a:solidFill>
                          <a:schemeClr val="tx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F1-Score</a:t>
                      </a:r>
                      <a:endParaRPr lang="en-IN" sz="1600">
                        <a:solidFill>
                          <a:schemeClr val="tx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  <a:tr h="648072">
                <a:tc>
                  <a:txBody>
                    <a:bodyPr/>
                    <a:lstStyle/>
                    <a:p>
                      <a:r>
                        <a:rPr lang="en-US" sz="1600">
                          <a:latin typeface="Gill Sans MT" panose="020B0502020104020203" pitchFamily="34" charset="0"/>
                        </a:rPr>
                        <a:t>Logistic Regression</a:t>
                      </a:r>
                      <a:endParaRPr lang="en-IN" sz="16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>
                          <a:latin typeface="Gill Sans MT" panose="020B0502020104020203" pitchFamily="34" charset="0"/>
                        </a:rPr>
                        <a:t>90%</a:t>
                      </a:r>
                      <a:endParaRPr lang="en-IN" sz="16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Gill Sans MT" panose="020B0502020104020203" pitchFamily="34" charset="0"/>
                        </a:rPr>
                        <a:t>0.89</a:t>
                      </a:r>
                      <a:endParaRPr lang="en-IN" sz="1600">
                        <a:latin typeface="Gill Sans MT" panose="020B05020201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>
                          <a:latin typeface="Gill Sans MT" panose="020B0502020104020203" pitchFamily="34" charset="0"/>
                        </a:rPr>
                        <a:t>0.91</a:t>
                      </a:r>
                      <a:endParaRPr lang="en-IN" sz="16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>
                          <a:latin typeface="Gill Sans MT" panose="020B0502020104020203" pitchFamily="34" charset="0"/>
                        </a:rPr>
                        <a:t>0.90</a:t>
                      </a:r>
                      <a:endParaRPr lang="en-IN" sz="160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Future Work Plan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408774" y="634500"/>
            <a:ext cx="8504804" cy="380945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latin typeface="Gill Sans MT" panose="020B0502020104020203" pitchFamily="34" charset="0"/>
              </a:rPr>
              <a:t>Model Optimization (All Algorithms)</a:t>
            </a:r>
            <a:endParaRPr lang="en-US" sz="1400">
              <a:latin typeface="Gill Sans MT" panose="020B050202010402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Gill Sans MT" panose="020B0502020104020203" pitchFamily="34" charset="0"/>
              </a:rPr>
              <a:t>Improve performance of Logistic Regression, KNN, Decision Tree, and Random Forest using hyperparameter tuning (Grid Search / Random Search).</a:t>
            </a:r>
            <a:endParaRPr lang="en-US" sz="140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latin typeface="Gill Sans MT" panose="020B0502020104020203" pitchFamily="34" charset="0"/>
              </a:rPr>
              <a:t>Advanced Ensemble Techniques</a:t>
            </a:r>
            <a:endParaRPr lang="en-US" sz="1400">
              <a:latin typeface="Gill Sans MT" panose="020B050202010402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Gill Sans MT" panose="020B0502020104020203" pitchFamily="34" charset="0"/>
              </a:rPr>
              <a:t>Combine models using techniques like Voting or Stacking to achieve better accuracy than individual models.</a:t>
            </a:r>
            <a:endParaRPr lang="en-US" sz="140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latin typeface="Gill Sans MT" panose="020B0502020104020203" pitchFamily="34" charset="0"/>
              </a:rPr>
              <a:t>Improving KNN &amp; Decision Tree Performance</a:t>
            </a:r>
            <a:endParaRPr lang="en-US" sz="1400">
              <a:latin typeface="Gill Sans MT" panose="020B050202010402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Gill Sans MT" panose="020B0502020104020203" pitchFamily="34" charset="0"/>
              </a:rPr>
              <a:t>Optimize K value in KNN and apply pruning in Decision Tree to reduce overfitting and improve generalization.</a:t>
            </a:r>
            <a:endParaRPr lang="en-US" sz="140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latin typeface="Gill Sans MT" panose="020B0502020104020203" pitchFamily="34" charset="0"/>
              </a:rPr>
              <a:t>Real-Time Deployment &amp; Testing</a:t>
            </a:r>
            <a:endParaRPr lang="en-US" sz="1400">
              <a:latin typeface="Gill Sans MT" panose="020B050202010402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Gill Sans MT" panose="020B0502020104020203" pitchFamily="34" charset="0"/>
              </a:rPr>
              <a:t>Deploy the best-performing model as a web application and test it with real-time user input for practical validation.</a:t>
            </a:r>
            <a:endParaRPr lang="en-US" sz="1400">
              <a:latin typeface="Gill Sans MT" panose="020B0502020104020203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402590" marR="0" lvl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defRPr/>
            </a:pP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defRPr/>
            </a:pP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3" y="267206"/>
            <a:ext cx="8433366" cy="553998"/>
          </a:xfrm>
        </p:spPr>
        <p:txBody>
          <a:bodyPr/>
          <a:lstStyle/>
          <a:p>
            <a:br>
              <a:rPr lang="en-IN" sz="2800" b="1" spc="-1" dirty="0">
                <a:solidFill>
                  <a:srgbClr val="57231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 sz="2800" b="1" spc="-1" dirty="0">
                <a:solidFill>
                  <a:srgbClr val="57231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 sz="2800" b="1" spc="-1" dirty="0">
                <a:solidFill>
                  <a:srgbClr val="57231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 sz="2800" b="1" spc="-1" dirty="0">
                <a:solidFill>
                  <a:srgbClr val="57231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2800" b="1" spc="-1" dirty="0">
                <a:solidFill>
                  <a:srgbClr val="572314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1910" y="829945"/>
          <a:ext cx="9067165" cy="4234053"/>
        </p:xfrm>
        <a:graphic>
          <a:graphicData uri="http://schemas.openxmlformats.org/drawingml/2006/table">
            <a:tbl>
              <a:tblPr firstRow="1" firstCol="1" bandRow="1"/>
              <a:tblGrid>
                <a:gridCol w="412115"/>
                <a:gridCol w="8655050"/>
              </a:tblGrid>
              <a:tr h="4762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Tourt, Dara, Queen E. Booker, and Carl M. Rebman Jr. "Strategic application of SMOTE and its variants to enhance AI-driven healthcare classification in imbalanced datasets." Issues in Information Systems 26.2 (2025). </a:t>
                      </a:r>
                      <a:endParaRPr lang="en-US" alt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708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Ridlan, Ahmad, et al. "Early autism disorder prediction using machine learning." International journal of open information technologies 13.1 (2025): </a:t>
                      </a:r>
                      <a:r>
                        <a:rPr lang="en-US" alt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48-53.</a:t>
                      </a:r>
                      <a:endParaRPr lang="en-US" alt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1978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Abdelwahab, Mahmoud M., et al. "Autism spectrum disorder prediction in children using machine learning." Journal of Disability Research 3.1 (2024): 20230064.</a:t>
                      </a:r>
                      <a:endParaRPr lang="en-US" alt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77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Surendiran, R., et al. "Effective autism spectrum disorder prediction to improve the clinical traits using machine learning techniques." Int J Eng Trends Technol 70.4 (2022): 343-59.</a:t>
                      </a:r>
                      <a:endParaRPr lang="en-US" alt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Rasul, Rownak Ara, et al. "An evaluation of machine learning approaches for early diagnosis of autism spectrum disorder." Healthcare Analytics 5 (2024): 100293.</a:t>
                      </a:r>
                      <a:endParaRPr lang="en-US" alt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[6]</a:t>
                      </a:r>
                      <a:r>
                        <a:rPr lang="en-US" alt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Hasan, SM Mahedy, et al. "A machine learning framework for early-stage detection of autism spectrum disorders." IEEE Access 11 (2022): 15038-15057.</a:t>
                      </a:r>
                      <a:endParaRPr lang="en-US" alt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 panose="020B0502020104020203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13*363"/>
  <p:tag name="TABLE_ENDDRAG_RECT" val="2*38*713*363"/>
</p:tagLst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8943</Words>
  <Application>WPS Presentation</Application>
  <PresentationFormat>On-screen Show (16:9)</PresentationFormat>
  <Paragraphs>463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47" baseType="lpstr">
      <vt:lpstr>Arial</vt:lpstr>
      <vt:lpstr>SimSun</vt:lpstr>
      <vt:lpstr>Wingdings</vt:lpstr>
      <vt:lpstr>Josefin Sans</vt:lpstr>
      <vt:lpstr>Segoe Print</vt:lpstr>
      <vt:lpstr>Bebas Neue</vt:lpstr>
      <vt:lpstr>Quicksand</vt:lpstr>
      <vt:lpstr>Arial</vt:lpstr>
      <vt:lpstr>Anaheim</vt:lpstr>
      <vt:lpstr>Cardo</vt:lpstr>
      <vt:lpstr>Roboto Condensed Light</vt:lpstr>
      <vt:lpstr>Proxima Nova</vt:lpstr>
      <vt:lpstr>Proxima Nova Semibold</vt:lpstr>
      <vt:lpstr>Open Sans</vt:lpstr>
      <vt:lpstr>Calibri</vt:lpstr>
      <vt:lpstr>Bahnschrift SemiBold</vt:lpstr>
      <vt:lpstr>Gill Sans MT</vt:lpstr>
      <vt:lpstr>Times New Roman</vt:lpstr>
      <vt:lpstr>Times New Roman</vt:lpstr>
      <vt:lpstr>Gill Sans MT</vt:lpstr>
      <vt:lpstr>Arial (Body)</vt:lpstr>
      <vt:lpstr>Aptos</vt:lpstr>
      <vt:lpstr>Segoe UI</vt:lpstr>
      <vt:lpstr>Microsoft YaHei</vt:lpstr>
      <vt:lpstr>Arial Unicode MS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WPS_1727532377</cp:lastModifiedBy>
  <cp:revision>83</cp:revision>
  <dcterms:created xsi:type="dcterms:W3CDTF">2023-04-24T05:50:00Z</dcterms:created>
  <dcterms:modified xsi:type="dcterms:W3CDTF">2026-04-11T06:37:21Z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  <property fmtid="{D5CDD505-2E9C-101B-9397-08002B2CF9AE}" pid="12" name="KSOProductBuildVer">
    <vt:lpwstr>1033-12.1.0.25830</vt:lpwstr>
  </property>
  <property fmtid="{D5CDD505-2E9C-101B-9397-08002B2CF9AE}" pid="13" name="ICV">
    <vt:lpwstr>F942B80DF37F4A2F8C74199C6C7A820E_13</vt:lpwstr>
  </property>
</Properties>
</file>